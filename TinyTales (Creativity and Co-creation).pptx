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Cooper BT Bold" charset="1" panose="0208080404030B020404"/>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D1674"/>
        </a:solidFill>
      </p:bgPr>
    </p:bg>
    <p:spTree>
      <p:nvGrpSpPr>
        <p:cNvPr id="1" name=""/>
        <p:cNvGrpSpPr/>
        <p:nvPr/>
      </p:nvGrpSpPr>
      <p:grpSpPr>
        <a:xfrm>
          <a:off x="0" y="0"/>
          <a:ext cx="0" cy="0"/>
          <a:chOff x="0" y="0"/>
          <a:chExt cx="0" cy="0"/>
        </a:xfrm>
      </p:grpSpPr>
      <p:sp>
        <p:nvSpPr>
          <p:cNvPr name="Freeform 2" id="2">
            <a:extLst>
              <a:ext uri="{C183D7F6-B498-43B3-948B-1728B52AA6E4}">
                <adec:decorative xmlns:adec="http://schemas.microsoft.com/office/drawing/2017/decorative" val="1"/>
              </a:ext>
            </a:extLst>
          </p:cNvPr>
          <p:cNvSpPr/>
          <p:nvPr/>
        </p:nvSpPr>
        <p:spPr>
          <a:xfrm flipH="false" flipV="false" rot="0">
            <a:off x="-1366085" y="6544293"/>
            <a:ext cx="10039572" cy="4066027"/>
          </a:xfrm>
          <a:custGeom>
            <a:avLst/>
            <a:gdLst/>
            <a:ahLst/>
            <a:cxnLst/>
            <a:rect r="r" b="b" t="t" l="l"/>
            <a:pathLst>
              <a:path h="4066027" w="10039572">
                <a:moveTo>
                  <a:pt x="0" y="0"/>
                </a:moveTo>
                <a:lnTo>
                  <a:pt x="10039572" y="0"/>
                </a:lnTo>
                <a:lnTo>
                  <a:pt x="10039572" y="4066027"/>
                </a:lnTo>
                <a:lnTo>
                  <a:pt x="0" y="4066027"/>
                </a:lnTo>
                <a:lnTo>
                  <a:pt x="0" y="0"/>
                </a:lnTo>
                <a:close/>
              </a:path>
            </a:pathLst>
          </a:custGeom>
          <a:blipFill>
            <a:blip r:embed="rId2">
              <a:extLst>
                <a:ext uri="{96DAC541-7B7A-43D3-8B79-37D633B846F1}">
                  <asvg:svgBlip xmlns:asvg="http://schemas.microsoft.com/office/drawing/2016/SVG/main" r:embed="rId3"/>
                </a:ext>
              </a:extLst>
            </a:blip>
            <a:stretch>
              <a:fillRect l="0" t="-85" r="0" b="-85"/>
            </a:stretch>
          </a:blipFill>
        </p:spPr>
      </p:sp>
      <p:sp>
        <p:nvSpPr>
          <p:cNvPr name="Freeform 3" id="3">
            <a:extLst>
              <a:ext uri="{C183D7F6-B498-43B3-948B-1728B52AA6E4}">
                <adec:decorative xmlns:adec="http://schemas.microsoft.com/office/drawing/2017/decorative" val="1"/>
              </a:ext>
            </a:extLst>
          </p:cNvPr>
          <p:cNvSpPr/>
          <p:nvPr/>
        </p:nvSpPr>
        <p:spPr>
          <a:xfrm flipH="false" flipV="false" rot="0">
            <a:off x="11302075"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0">
            <a:off x="4082757" y="7248998"/>
            <a:ext cx="10524114" cy="4262266"/>
          </a:xfrm>
          <a:custGeom>
            <a:avLst/>
            <a:gdLst/>
            <a:ahLst/>
            <a:cxnLst/>
            <a:rect r="r" b="b" t="t" l="l"/>
            <a:pathLst>
              <a:path h="4262266" w="10524114">
                <a:moveTo>
                  <a:pt x="0" y="0"/>
                </a:moveTo>
                <a:lnTo>
                  <a:pt x="10524113" y="0"/>
                </a:lnTo>
                <a:lnTo>
                  <a:pt x="10524113" y="4262266"/>
                </a:lnTo>
                <a:lnTo>
                  <a:pt x="0" y="4262266"/>
                </a:lnTo>
                <a:lnTo>
                  <a:pt x="0" y="0"/>
                </a:lnTo>
                <a:close/>
              </a:path>
            </a:pathLst>
          </a:custGeom>
          <a:blipFill>
            <a:blip r:embed="rId6">
              <a:extLst>
                <a:ext uri="{96DAC541-7B7A-43D3-8B79-37D633B846F1}">
                  <asvg:svgBlip xmlns:asvg="http://schemas.microsoft.com/office/drawing/2016/SVG/main" r:embed="rId7"/>
                </a:ext>
              </a:extLst>
            </a:blip>
            <a:stretch>
              <a:fillRect l="0" t="-85" r="0" b="-85"/>
            </a:stretch>
          </a:blipFill>
        </p:spPr>
      </p:sp>
      <p:sp>
        <p:nvSpPr>
          <p:cNvPr name="Freeform 5" id="5">
            <a:extLst>
              <a:ext uri="{C183D7F6-B498-43B3-948B-1728B52AA6E4}">
                <adec:decorative xmlns:adec="http://schemas.microsoft.com/office/drawing/2017/decorative" val="1"/>
              </a:ext>
            </a:extLst>
          </p:cNvPr>
          <p:cNvSpPr/>
          <p:nvPr/>
        </p:nvSpPr>
        <p:spPr>
          <a:xfrm flipH="false" flipV="false" rot="0">
            <a:off x="11507894" y="7033601"/>
            <a:ext cx="9107624" cy="3688588"/>
          </a:xfrm>
          <a:custGeom>
            <a:avLst/>
            <a:gdLst/>
            <a:ahLst/>
            <a:cxnLst/>
            <a:rect r="r" b="b" t="t" l="l"/>
            <a:pathLst>
              <a:path h="3688588" w="9107624">
                <a:moveTo>
                  <a:pt x="0" y="0"/>
                </a:moveTo>
                <a:lnTo>
                  <a:pt x="9107624" y="0"/>
                </a:lnTo>
                <a:lnTo>
                  <a:pt x="9107624" y="3688587"/>
                </a:lnTo>
                <a:lnTo>
                  <a:pt x="0" y="3688587"/>
                </a:lnTo>
                <a:lnTo>
                  <a:pt x="0" y="0"/>
                </a:lnTo>
                <a:close/>
              </a:path>
            </a:pathLst>
          </a:custGeom>
          <a:blipFill>
            <a:blip r:embed="rId2">
              <a:extLst>
                <a:ext uri="{96DAC541-7B7A-43D3-8B79-37D633B846F1}">
                  <asvg:svgBlip xmlns:asvg="http://schemas.microsoft.com/office/drawing/2016/SVG/main" r:embed="rId3"/>
                </a:ext>
              </a:extLst>
            </a:blip>
            <a:stretch>
              <a:fillRect l="0" t="-85" r="0" b="-85"/>
            </a:stretch>
          </a:blipFill>
        </p:spPr>
      </p:sp>
      <p:sp>
        <p:nvSpPr>
          <p:cNvPr name="TextBox 6" id="6"/>
          <p:cNvSpPr txBox="true"/>
          <p:nvPr/>
        </p:nvSpPr>
        <p:spPr>
          <a:xfrm rot="0">
            <a:off x="729514" y="1277894"/>
            <a:ext cx="11507894" cy="3609975"/>
          </a:xfrm>
          <a:prstGeom prst="rect">
            <a:avLst/>
          </a:prstGeom>
        </p:spPr>
        <p:txBody>
          <a:bodyPr anchor="t" rtlCol="false" tIns="0" lIns="0" bIns="0" rIns="0">
            <a:spAutoFit/>
          </a:bodyPr>
          <a:lstStyle/>
          <a:p>
            <a:pPr algn="ctr">
              <a:lnSpc>
                <a:spcPts val="21000"/>
              </a:lnSpc>
            </a:pPr>
            <a:r>
              <a:rPr lang="en-US" sz="15000" b="true">
                <a:solidFill>
                  <a:srgbClr val="FFFFFF"/>
                </a:solidFill>
                <a:latin typeface="Cooper BT Bold"/>
                <a:ea typeface="Cooper BT Bold"/>
                <a:cs typeface="Cooper BT Bold"/>
                <a:sym typeface="Cooper BT Bold"/>
              </a:rPr>
              <a:t>TinyTales</a:t>
            </a:r>
          </a:p>
          <a:p>
            <a:pPr algn="ctr">
              <a:lnSpc>
                <a:spcPts val="7000"/>
              </a:lnSpc>
              <a:spcBef>
                <a:spcPct val="0"/>
              </a:spcBef>
            </a:pPr>
            <a:r>
              <a:rPr lang="en-US" b="true" sz="5000">
                <a:solidFill>
                  <a:srgbClr val="FFFFFF"/>
                </a:solidFill>
                <a:latin typeface="Cooper BT Bold"/>
                <a:ea typeface="Cooper BT Bold"/>
                <a:cs typeface="Cooper BT Bold"/>
                <a:sym typeface="Cooper BT Bold"/>
              </a:rPr>
              <a:t>(Creativity and Co-creation)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2D1674"/>
        </a:solidFill>
      </p:bgPr>
    </p:bg>
    <p:spTree>
      <p:nvGrpSpPr>
        <p:cNvPr id="1" name=""/>
        <p:cNvGrpSpPr/>
        <p:nvPr/>
      </p:nvGrpSpPr>
      <p:grpSpPr>
        <a:xfrm>
          <a:off x="0" y="0"/>
          <a:ext cx="0" cy="0"/>
          <a:chOff x="0" y="0"/>
          <a:chExt cx="0" cy="0"/>
        </a:xfrm>
      </p:grpSpPr>
      <p:sp>
        <p:nvSpPr>
          <p:cNvPr name="TextBox 2" id="2"/>
          <p:cNvSpPr txBox="true"/>
          <p:nvPr/>
        </p:nvSpPr>
        <p:spPr>
          <a:xfrm rot="0">
            <a:off x="5175845" y="101578"/>
            <a:ext cx="7936310" cy="5257800"/>
          </a:xfrm>
          <a:prstGeom prst="rect">
            <a:avLst/>
          </a:prstGeom>
        </p:spPr>
        <p:txBody>
          <a:bodyPr anchor="t" rtlCol="false" tIns="0" lIns="0" bIns="0" rIns="0">
            <a:spAutoFit/>
          </a:bodyPr>
          <a:lstStyle/>
          <a:p>
            <a:pPr algn="ctr">
              <a:lnSpc>
                <a:spcPts val="21000"/>
              </a:lnSpc>
            </a:pPr>
            <a:r>
              <a:rPr lang="en-US" sz="15000" b="true">
                <a:solidFill>
                  <a:srgbClr val="FFFFFF"/>
                </a:solidFill>
                <a:latin typeface="Cooper BT Bold"/>
                <a:ea typeface="Cooper BT Bold"/>
                <a:cs typeface="Cooper BT Bold"/>
                <a:sym typeface="Cooper BT Bold"/>
              </a:rPr>
              <a:t>Problem</a:t>
            </a:r>
          </a:p>
          <a:p>
            <a:pPr algn="ctr">
              <a:lnSpc>
                <a:spcPts val="21000"/>
              </a:lnSpc>
              <a:spcBef>
                <a:spcPct val="0"/>
              </a:spcBef>
            </a:pPr>
          </a:p>
        </p:txBody>
      </p:sp>
      <p:sp>
        <p:nvSpPr>
          <p:cNvPr name="TextBox 3" id="3"/>
          <p:cNvSpPr txBox="true"/>
          <p:nvPr/>
        </p:nvSpPr>
        <p:spPr>
          <a:xfrm rot="0">
            <a:off x="1132022" y="3116433"/>
            <a:ext cx="16023956" cy="7099300"/>
          </a:xfrm>
          <a:prstGeom prst="rect">
            <a:avLst/>
          </a:prstGeom>
        </p:spPr>
        <p:txBody>
          <a:bodyPr anchor="t" rtlCol="false" tIns="0" lIns="0" bIns="0" rIns="0">
            <a:spAutoFit/>
          </a:bodyPr>
          <a:lstStyle/>
          <a:p>
            <a:pPr algn="l">
              <a:lnSpc>
                <a:spcPts val="7000"/>
              </a:lnSpc>
            </a:pPr>
            <a:r>
              <a:rPr lang="en-US" sz="5000" b="true">
                <a:solidFill>
                  <a:srgbClr val="FFFFFF"/>
                </a:solidFill>
                <a:latin typeface="Cooper BT Bold"/>
                <a:ea typeface="Cooper BT Bold"/>
                <a:cs typeface="Cooper BT Bold"/>
                <a:sym typeface="Cooper BT Bold"/>
              </a:rPr>
              <a:t>Many children that have shallow sleep usually wake up in the midnight and require the care from their parents. Due to this, parents have to experience depression and exhaustion, which negatively impact their work and daily life. This makes both children and their parents to have low-standard mentality.</a:t>
            </a:r>
          </a:p>
          <a:p>
            <a:pPr algn="l">
              <a:lnSpc>
                <a:spcPts val="7000"/>
              </a:lnSpc>
              <a:spcBef>
                <a:spcPct val="0"/>
              </a:spcBef>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p:cSld>
    <p:bg>
      <p:bgPr>
        <a:solidFill>
          <a:srgbClr val="2D1674"/>
        </a:solidFill>
      </p:bgPr>
    </p:bg>
    <p:spTree>
      <p:nvGrpSpPr>
        <p:cNvPr id="1" name=""/>
        <p:cNvGrpSpPr/>
        <p:nvPr/>
      </p:nvGrpSpPr>
      <p:grpSpPr>
        <a:xfrm>
          <a:off x="0" y="0"/>
          <a:ext cx="0" cy="0"/>
          <a:chOff x="0" y="0"/>
          <a:chExt cx="0" cy="0"/>
        </a:xfrm>
      </p:grpSpPr>
      <p:sp>
        <p:nvSpPr>
          <p:cNvPr name="TextBox 2" id="2"/>
          <p:cNvSpPr txBox="true"/>
          <p:nvPr/>
        </p:nvSpPr>
        <p:spPr>
          <a:xfrm rot="0">
            <a:off x="231031" y="101578"/>
            <a:ext cx="17825939" cy="5257800"/>
          </a:xfrm>
          <a:prstGeom prst="rect">
            <a:avLst/>
          </a:prstGeom>
        </p:spPr>
        <p:txBody>
          <a:bodyPr anchor="t" rtlCol="false" tIns="0" lIns="0" bIns="0" rIns="0">
            <a:spAutoFit/>
          </a:bodyPr>
          <a:lstStyle/>
          <a:p>
            <a:pPr algn="ctr">
              <a:lnSpc>
                <a:spcPts val="21000"/>
              </a:lnSpc>
            </a:pPr>
            <a:r>
              <a:rPr lang="en-US" sz="15000" b="true">
                <a:solidFill>
                  <a:srgbClr val="FFFFFF"/>
                </a:solidFill>
                <a:latin typeface="Cooper BT Bold"/>
                <a:ea typeface="Cooper BT Bold"/>
                <a:cs typeface="Cooper BT Bold"/>
                <a:sym typeface="Cooper BT Bold"/>
              </a:rPr>
              <a:t>Solution Approach</a:t>
            </a:r>
          </a:p>
          <a:p>
            <a:pPr algn="ctr">
              <a:lnSpc>
                <a:spcPts val="21000"/>
              </a:lnSpc>
              <a:spcBef>
                <a:spcPct val="0"/>
              </a:spcBef>
            </a:pPr>
          </a:p>
        </p:txBody>
      </p:sp>
      <p:sp>
        <p:nvSpPr>
          <p:cNvPr name="TextBox 3" id="3"/>
          <p:cNvSpPr txBox="true"/>
          <p:nvPr/>
        </p:nvSpPr>
        <p:spPr>
          <a:xfrm rot="0">
            <a:off x="1132022" y="2778103"/>
            <a:ext cx="16023956" cy="7991475"/>
          </a:xfrm>
          <a:prstGeom prst="rect">
            <a:avLst/>
          </a:prstGeom>
        </p:spPr>
        <p:txBody>
          <a:bodyPr anchor="t" rtlCol="false" tIns="0" lIns="0" bIns="0" rIns="0">
            <a:spAutoFit/>
          </a:bodyPr>
          <a:lstStyle/>
          <a:p>
            <a:pPr algn="l">
              <a:lnSpc>
                <a:spcPts val="7000"/>
              </a:lnSpc>
            </a:pPr>
            <a:r>
              <a:rPr lang="en-US" sz="5000" b="true">
                <a:solidFill>
                  <a:srgbClr val="FFFFFF"/>
                </a:solidFill>
                <a:latin typeface="Cooper BT Bold"/>
                <a:ea typeface="Cooper BT Bold"/>
                <a:cs typeface="Cooper BT Bold"/>
                <a:sym typeface="Cooper BT Bold"/>
              </a:rPr>
              <a:t>We create the TinyTales app that have the ability to create a story and read it for the children to easily fall as sleep. This app serve as a alternative tool that lull the children to sleep without the appearance of their parents.</a:t>
            </a:r>
          </a:p>
          <a:p>
            <a:pPr algn="l">
              <a:lnSpc>
                <a:spcPts val="7000"/>
              </a:lnSpc>
            </a:pPr>
            <a:r>
              <a:rPr lang="en-US" sz="5000" b="true">
                <a:solidFill>
                  <a:srgbClr val="FFFFFF"/>
                </a:solidFill>
                <a:latin typeface="Cooper BT Bold"/>
                <a:ea typeface="Cooper BT Bold"/>
                <a:cs typeface="Cooper BT Bold"/>
                <a:sym typeface="Cooper BT Bold"/>
              </a:rPr>
              <a:t>This increase the sleep quality for both parents and children, encouraging better health for the family</a:t>
            </a:r>
          </a:p>
          <a:p>
            <a:pPr algn="l">
              <a:lnSpc>
                <a:spcPts val="700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2D1674"/>
        </a:solidFill>
      </p:bgPr>
    </p:bg>
    <p:spTree>
      <p:nvGrpSpPr>
        <p:cNvPr id="1" name=""/>
        <p:cNvGrpSpPr/>
        <p:nvPr/>
      </p:nvGrpSpPr>
      <p:grpSpPr>
        <a:xfrm>
          <a:off x="0" y="0"/>
          <a:ext cx="0" cy="0"/>
          <a:chOff x="0" y="0"/>
          <a:chExt cx="0" cy="0"/>
        </a:xfrm>
      </p:grpSpPr>
      <p:sp>
        <p:nvSpPr>
          <p:cNvPr name="TextBox 2" id="2"/>
          <p:cNvSpPr txBox="true"/>
          <p:nvPr/>
        </p:nvSpPr>
        <p:spPr>
          <a:xfrm rot="0">
            <a:off x="5503713" y="-285750"/>
            <a:ext cx="7280573" cy="5257800"/>
          </a:xfrm>
          <a:prstGeom prst="rect">
            <a:avLst/>
          </a:prstGeom>
        </p:spPr>
        <p:txBody>
          <a:bodyPr anchor="t" rtlCol="false" tIns="0" lIns="0" bIns="0" rIns="0">
            <a:spAutoFit/>
          </a:bodyPr>
          <a:lstStyle/>
          <a:p>
            <a:pPr algn="ctr">
              <a:lnSpc>
                <a:spcPts val="21000"/>
              </a:lnSpc>
            </a:pPr>
            <a:r>
              <a:rPr lang="en-US" sz="15000" b="true">
                <a:solidFill>
                  <a:srgbClr val="FFFFFF"/>
                </a:solidFill>
                <a:latin typeface="Cooper BT Bold"/>
                <a:ea typeface="Cooper BT Bold"/>
                <a:cs typeface="Cooper BT Bold"/>
                <a:sym typeface="Cooper BT Bold"/>
              </a:rPr>
              <a:t>Feature</a:t>
            </a:r>
          </a:p>
          <a:p>
            <a:pPr algn="ctr">
              <a:lnSpc>
                <a:spcPts val="21000"/>
              </a:lnSpc>
              <a:spcBef>
                <a:spcPct val="0"/>
              </a:spcBef>
            </a:pPr>
          </a:p>
        </p:txBody>
      </p:sp>
      <p:sp>
        <p:nvSpPr>
          <p:cNvPr name="TextBox 3" id="3"/>
          <p:cNvSpPr txBox="true"/>
          <p:nvPr/>
        </p:nvSpPr>
        <p:spPr>
          <a:xfrm rot="0">
            <a:off x="1455129" y="2390775"/>
            <a:ext cx="15377743" cy="7092950"/>
          </a:xfrm>
          <a:prstGeom prst="rect">
            <a:avLst/>
          </a:prstGeom>
        </p:spPr>
        <p:txBody>
          <a:bodyPr anchor="t" rtlCol="false" tIns="0" lIns="0" bIns="0" rIns="0">
            <a:spAutoFit/>
          </a:bodyPr>
          <a:lstStyle/>
          <a:p>
            <a:pPr algn="l">
              <a:lnSpc>
                <a:spcPts val="7000"/>
              </a:lnSpc>
            </a:pPr>
            <a:r>
              <a:rPr lang="en-US" sz="5000" b="true">
                <a:solidFill>
                  <a:srgbClr val="FFFFFF"/>
                </a:solidFill>
                <a:latin typeface="Cooper BT Bold"/>
                <a:ea typeface="Cooper BT Bold"/>
                <a:cs typeface="Cooper BT Bold"/>
                <a:sym typeface="Cooper BT Bold"/>
              </a:rPr>
              <a:t>Create a story based on the description of the user, including images and text for both parents and children to follow</a:t>
            </a:r>
          </a:p>
          <a:p>
            <a:pPr algn="l">
              <a:lnSpc>
                <a:spcPts val="7000"/>
              </a:lnSpc>
            </a:pPr>
          </a:p>
          <a:p>
            <a:pPr algn="l">
              <a:lnSpc>
                <a:spcPts val="7000"/>
              </a:lnSpc>
            </a:pPr>
            <a:r>
              <a:rPr lang="en-US" sz="5000" b="true">
                <a:solidFill>
                  <a:srgbClr val="FFFFFF"/>
                </a:solidFill>
                <a:latin typeface="Cooper BT Bold"/>
                <a:ea typeface="Cooper BT Bold"/>
                <a:cs typeface="Cooper BT Bold"/>
                <a:sym typeface="Cooper BT Bold"/>
              </a:rPr>
              <a:t>Read the story for the children</a:t>
            </a:r>
          </a:p>
          <a:p>
            <a:pPr algn="l">
              <a:lnSpc>
                <a:spcPts val="7000"/>
              </a:lnSpc>
            </a:pPr>
          </a:p>
          <a:p>
            <a:pPr algn="l">
              <a:lnSpc>
                <a:spcPts val="7000"/>
              </a:lnSpc>
              <a:spcBef>
                <a:spcPct val="0"/>
              </a:spcBef>
            </a:pPr>
            <a:r>
              <a:rPr lang="en-US" sz="5000" b="true">
                <a:solidFill>
                  <a:srgbClr val="FFFFFF"/>
                </a:solidFill>
                <a:latin typeface="Cooper BT Bold"/>
                <a:ea typeface="Cooper BT Bold"/>
                <a:cs typeface="Cooper BT Bold"/>
                <a:sym typeface="Cooper BT Bold"/>
              </a:rPr>
              <a:t>*Store the story whenever created for repeatedly listening</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2D1674"/>
        </a:solidFill>
      </p:bgPr>
    </p:bg>
    <p:spTree>
      <p:nvGrpSpPr>
        <p:cNvPr id="1" name=""/>
        <p:cNvGrpSpPr/>
        <p:nvPr/>
      </p:nvGrpSpPr>
      <p:grpSpPr>
        <a:xfrm>
          <a:off x="0" y="0"/>
          <a:ext cx="0" cy="0"/>
          <a:chOff x="0" y="0"/>
          <a:chExt cx="0" cy="0"/>
        </a:xfrm>
      </p:grpSpPr>
      <p:sp>
        <p:nvSpPr>
          <p:cNvPr name="TextBox 2" id="2"/>
          <p:cNvSpPr txBox="true"/>
          <p:nvPr/>
        </p:nvSpPr>
        <p:spPr>
          <a:xfrm rot="0">
            <a:off x="1199356" y="-285750"/>
            <a:ext cx="15889288" cy="5257800"/>
          </a:xfrm>
          <a:prstGeom prst="rect">
            <a:avLst/>
          </a:prstGeom>
        </p:spPr>
        <p:txBody>
          <a:bodyPr anchor="t" rtlCol="false" tIns="0" lIns="0" bIns="0" rIns="0">
            <a:spAutoFit/>
          </a:bodyPr>
          <a:lstStyle/>
          <a:p>
            <a:pPr algn="ctr">
              <a:lnSpc>
                <a:spcPts val="21000"/>
              </a:lnSpc>
            </a:pPr>
            <a:r>
              <a:rPr lang="en-US" sz="15000" b="true">
                <a:solidFill>
                  <a:srgbClr val="FFFFFF"/>
                </a:solidFill>
                <a:latin typeface="Cooper BT Bold"/>
                <a:ea typeface="Cooper BT Bold"/>
                <a:cs typeface="Cooper BT Bold"/>
                <a:sym typeface="Cooper BT Bold"/>
              </a:rPr>
              <a:t>Expected Impact</a:t>
            </a:r>
          </a:p>
          <a:p>
            <a:pPr algn="ctr">
              <a:lnSpc>
                <a:spcPts val="21000"/>
              </a:lnSpc>
              <a:spcBef>
                <a:spcPct val="0"/>
              </a:spcBef>
            </a:pPr>
          </a:p>
        </p:txBody>
      </p:sp>
      <p:sp>
        <p:nvSpPr>
          <p:cNvPr name="TextBox 3" id="3"/>
          <p:cNvSpPr txBox="true"/>
          <p:nvPr/>
        </p:nvSpPr>
        <p:spPr>
          <a:xfrm rot="0">
            <a:off x="1455129" y="2086650"/>
            <a:ext cx="15377743" cy="7985125"/>
          </a:xfrm>
          <a:prstGeom prst="rect">
            <a:avLst/>
          </a:prstGeom>
        </p:spPr>
        <p:txBody>
          <a:bodyPr anchor="t" rtlCol="false" tIns="0" lIns="0" bIns="0" rIns="0">
            <a:spAutoFit/>
          </a:bodyPr>
          <a:lstStyle/>
          <a:p>
            <a:pPr algn="l">
              <a:lnSpc>
                <a:spcPts val="7000"/>
              </a:lnSpc>
            </a:pPr>
            <a:r>
              <a:rPr lang="en-US" sz="5000" b="true">
                <a:solidFill>
                  <a:srgbClr val="FFFFFF"/>
                </a:solidFill>
                <a:latin typeface="Cooper BT Bold"/>
                <a:ea typeface="Cooper BT Bold"/>
                <a:cs typeface="Cooper BT Bold"/>
                <a:sym typeface="Cooper BT Bold"/>
              </a:rPr>
              <a:t>This app can help the parents to have more time focusing on their work.</a:t>
            </a:r>
          </a:p>
          <a:p>
            <a:pPr algn="l">
              <a:lnSpc>
                <a:spcPts val="7000"/>
              </a:lnSpc>
            </a:pPr>
          </a:p>
          <a:p>
            <a:pPr algn="l">
              <a:lnSpc>
                <a:spcPts val="7000"/>
              </a:lnSpc>
            </a:pPr>
            <a:r>
              <a:rPr lang="en-US" sz="5000" b="true">
                <a:solidFill>
                  <a:srgbClr val="FFFFFF"/>
                </a:solidFill>
                <a:latin typeface="Cooper BT Bold"/>
                <a:ea typeface="Cooper BT Bold"/>
                <a:cs typeface="Cooper BT Bold"/>
                <a:sym typeface="Cooper BT Bold"/>
              </a:rPr>
              <a:t>It helps the children to fall as sleep easily without their parents</a:t>
            </a:r>
          </a:p>
          <a:p>
            <a:pPr algn="l">
              <a:lnSpc>
                <a:spcPts val="7000"/>
              </a:lnSpc>
            </a:pPr>
          </a:p>
          <a:p>
            <a:pPr algn="l">
              <a:lnSpc>
                <a:spcPts val="7000"/>
              </a:lnSpc>
              <a:spcBef>
                <a:spcPct val="0"/>
              </a:spcBef>
            </a:pPr>
            <a:r>
              <a:rPr lang="en-US" sz="5000" b="true">
                <a:solidFill>
                  <a:srgbClr val="FFFFFF"/>
                </a:solidFill>
                <a:latin typeface="Cooper BT Bold"/>
                <a:ea typeface="Cooper BT Bold"/>
                <a:cs typeface="Cooper BT Bold"/>
                <a:sym typeface="Cooper BT Bold"/>
              </a:rPr>
              <a:t>Children can also use it to play with themselves (watching the images and hearing the story), giving parents more time to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DAG7bLAAtwY</dc:identifier>
  <dcterms:modified xsi:type="dcterms:W3CDTF">2011-08-01T06:04:30Z</dcterms:modified>
  <cp:revision>1</cp:revision>
  <dc:title>TinyTales (Creativity and Co-creation)</dc:title>
</cp:coreProperties>
</file>